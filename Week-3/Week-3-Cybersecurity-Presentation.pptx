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Findings per Risk Level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3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FB68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Critical</c:v>
                  </c:pt>
                  <c:pt idx="1">
                    <c:v>High</c:v>
                  </c:pt>
                  <c:pt idx="2">
                    <c:v>Medium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FE0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E0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0B1F3A"/>
        </a:solidFill>
        <a:ln>
          <a:noFill/>
        </a:ln>
        <a:effectLst/>
      </c:spPr>
    </c:plotArea>
    <c:plotVisOnly val="1"/>
    <c:dispBlanksAs val="span"/>
  </c:chart>
  <c:spPr>
    <a:solidFill>
      <a:srgbClr val="0B1F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822960"/>
            <a:ext cx="2834640" cy="2834640"/>
          </a:xfrm>
          <a:prstGeom prst="roundRect">
            <a:avLst>
              <a:gd name="adj" fmla="val 51613"/>
            </a:avLst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1691640"/>
            <a:ext cx="1097280" cy="109728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Cybersecurity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Assessment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Discovery • Traffic Analysis • Vulnerability Assessment • Hardening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" y="4160520"/>
            <a:ext cx="384048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434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Intern      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192.168.17.0/24 (Kali, Metasploitable2)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window: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Aug 2026      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Submission: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Aug 2026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6172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AUTHORIZED LAB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real analyst workflow end to end, inside an isolated authorized lab.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8013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2350008"/>
            <a:ext cx="30723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live hosts and enumerate exposed services with Nmap.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180136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8013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44568" y="2350008"/>
            <a:ext cx="30723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live traffic with Wireshark across DNS, TCP, UDP, ICMP, ARP.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180136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15400" y="18013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9328" y="2350008"/>
            <a:ext cx="30723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an active Nmap scan to its exact packet-level footprint.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08736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40873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49808" y="4636008"/>
            <a:ext cx="30723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top talkers, DNS behaviour, and flag suspicious patterns.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408736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4544568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40873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44568" y="4636008"/>
            <a:ext cx="30723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findings into a risk-classified vulnerability assessment.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138160" y="388620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9328" y="408736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15400" y="40873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&amp; Verify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39328" y="4636008"/>
            <a:ext cx="30723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real fixes and prove improvement with before/after evidence.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Advanced Cybersecurity Practical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authorized VMs on an isolated host-only / NAT segment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155448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3315C"/>
          </a:solidFill>
          <a:ln w="12700">
            <a:solidFill>
              <a:srgbClr val="3E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0" y="1554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/ Internet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192.168.17.1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80760" y="2240280"/>
            <a:ext cx="0" cy="502920"/>
          </a:xfrm>
          <a:prstGeom prst="line">
            <a:avLst/>
          </a:prstGeom>
          <a:noFill/>
          <a:ln w="19050">
            <a:solidFill>
              <a:srgbClr val="F4A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743200"/>
            <a:ext cx="9966960" cy="0"/>
          </a:xfrm>
          <a:prstGeom prst="line">
            <a:avLst/>
          </a:prstGeom>
          <a:noFill/>
          <a:ln w="19050">
            <a:solidFill>
              <a:srgbClr val="F4A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27889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192.168.17.0/24  —  host-only / NAT lab segment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2743200"/>
            <a:ext cx="0" cy="411480"/>
          </a:xfrm>
          <a:prstGeom prst="line">
            <a:avLst/>
          </a:prstGeom>
          <a:noFill/>
          <a:ln w="19050">
            <a:solidFill>
              <a:srgbClr val="F4A3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315468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1E609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8036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80360" y="3639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192.168.17.128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80360" y="39136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/ Analyst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(Nmap + Wireshark)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863840" y="2743200"/>
            <a:ext cx="0" cy="411480"/>
          </a:xfrm>
          <a:prstGeom prst="line">
            <a:avLst/>
          </a:prstGeom>
          <a:noFill/>
          <a:ln w="19050">
            <a:solidFill>
              <a:srgbClr val="F4A3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315468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E6394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3639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192.168.17.129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9136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(intentionally vulnerable)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097280" y="48006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7.98  •  Wireshark  •  UFW firewall  •  systemd  •  VMware Workstation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534924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10294A"/>
          </a:solidFill>
          <a:ln w="12700">
            <a:solidFill>
              <a:srgbClr val="2743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53949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331720" y="539496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ports found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target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34840" y="534924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10294A"/>
          </a:solidFill>
          <a:ln w="12700">
            <a:solidFill>
              <a:srgbClr val="2743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53949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2,238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669280" y="539496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captured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 dropped)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0" y="534924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10294A"/>
          </a:solidFill>
          <a:ln w="12700">
            <a:solidFill>
              <a:srgbClr val="2743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53949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006840" y="539496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VMs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Advanced Cybersecurity Practical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Nmap Assessment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-sV 192.168.17.129 — service/version enumeration</a:t>
            </a:r>
            <a:endParaRPr lang="en-US" sz="1300" dirty="0"/>
          </a:p>
        </p:txBody>
      </p:sp>
      <p:pic>
        <p:nvPicPr>
          <p:cNvPr id="4" name="Image 0" descr="assets/12_1_Service_Version_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03504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4000"/>
            </a:avLst>
          </a:prstGeom>
          <a:solidFill>
            <a:srgbClr val="FDEDED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010912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Standout finding: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1524/tcp fingerprints as an already-listening, unauthenticated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shell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("Metasploitable root shell") — a built-in backdoor requiring no exploit at all.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903720" y="155448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55448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458200" y="155448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TCP ports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903720" y="274320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6600" y="274320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977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458200" y="274320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/ reset ports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903720" y="393192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86600" y="393192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458200" y="393192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services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(backdoors)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03720" y="48920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23-port table with per-port risk rating is provided in the written report, §7.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Advanced Cybersecurity Practical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Wireshark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week-3_network_capture.pcapng — captured on Kali eth0</a:t>
            </a:r>
            <a:endParaRPr lang="en-US" sz="1300" dirty="0"/>
          </a:p>
        </p:txBody>
      </p:sp>
      <p:pic>
        <p:nvPicPr>
          <p:cNvPr id="4" name="Image 0" descr="assets/11_3_Top_Communicating_Ho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675120" cy="3337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4632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→ Endpoints (IPv4): 192.168.17.128 and .129 dominate the capture.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452360" y="1554480"/>
            <a:ext cx="4160520" cy="713232"/>
          </a:xfrm>
          <a:prstGeom prst="roundRect">
            <a:avLst>
              <a:gd name="adj" fmla="val 8974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55448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2,238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589520" y="18745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captured, 0 dropped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52360" y="2423160"/>
            <a:ext cx="4160520" cy="713232"/>
          </a:xfrm>
          <a:prstGeom prst="roundRect">
            <a:avLst>
              <a:gd name="adj" fmla="val 8974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242316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589520" y="27432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traffic is the .128 ↔ .129 pair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52360" y="3291840"/>
            <a:ext cx="4160520" cy="713232"/>
          </a:xfrm>
          <a:prstGeom prst="roundRect">
            <a:avLst>
              <a:gd name="adj" fmla="val 8974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0" y="329184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1,001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589520" y="36118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conversations tracked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452360" y="4160520"/>
            <a:ext cx="4160520" cy="713232"/>
          </a:xfrm>
          <a:prstGeom prst="roundRect">
            <a:avLst>
              <a:gd name="adj" fmla="val 8974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89520" y="416052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· TCP · UDP · ICMP · ARP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589520" y="44805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 analyzed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452360" y="5257800"/>
            <a:ext cx="4160520" cy="960120"/>
          </a:xfrm>
          <a:prstGeom prst="roundRect">
            <a:avLst>
              <a:gd name="adj" fmla="val 6667"/>
            </a:avLst>
          </a:prstGeom>
          <a:solidFill>
            <a:srgbClr val="FDEDED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07808" y="532180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anomaly: queries to the lab resolver (192.168.17.2) intermittently return ICMP Port-Unreachable instead of a response — flagged for review.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Advanced Cybersecurity Practical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Nmap + Wireshark Correlation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nmap -sS scan, captured packet-by-packet in Wireshark</a:t>
            </a:r>
            <a:endParaRPr lang="en-US" sz="1300" dirty="0"/>
          </a:p>
        </p:txBody>
      </p:sp>
      <p:pic>
        <p:nvPicPr>
          <p:cNvPr id="4" name="Image 0" descr="assets/11_5_TCP_Investig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309360" cy="3154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177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scan burst: .128 → .129 across dozens of ports within ~13 ms.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417320"/>
          <a:ext cx="4526280" cy="3383280"/>
        </p:xfrm>
        <a:graphic>
          <a:graphicData uri="http://schemas.openxmlformats.org/drawingml/2006/table">
            <a:tbl>
              <a:tblPr/>
              <a:tblGrid>
                <a:gridCol w="1691640"/>
                <a:gridCol w="1600200"/>
                <a:gridCol w="1234440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Wireshark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CF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25/tcp open (smtp)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CF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→ SYN,ACK → RST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FB6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— confirmed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CF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139/tcp open (netbios)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CF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→ SYN,ACK → RST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FB6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— confirmed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CF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5900/tcp open (vnc)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CF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→ SYN,ACK → RST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FB6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— confirmed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CF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 / 143 / 110 — not listed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CF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→ RST,ACK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9FB6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— confirmed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086600" y="5029200"/>
            <a:ext cx="4526280" cy="1188720"/>
          </a:xfrm>
          <a:prstGeom prst="roundRect">
            <a:avLst>
              <a:gd name="adj" fmla="val 6154"/>
            </a:avLst>
          </a:prstGeom>
          <a:solidFill>
            <a:srgbClr val="13315C"/>
          </a:solidFill>
          <a:ln/>
        </p:spPr>
      </p:sp>
      <p:sp>
        <p:nvSpPr>
          <p:cNvPr id="8" name="Text 4"/>
          <p:cNvSpPr/>
          <p:nvPr/>
        </p:nvSpPr>
        <p:spPr>
          <a:xfrm>
            <a:off x="7269480" y="512064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1,023 SYN packets (45.7%) and 1,000 RST packets (44.7%) isolated by filter — every Nmap-reported port state is backed by raw packet evidence.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Advanced Cybersecurity Practical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Investigation Highlights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5 events investigated across the full 2,238-packet capture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550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581912"/>
            <a:ext cx="2965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SYN-scan burst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~1,023 SYN packets to sequential ports in &lt;13 ms from .128 → .129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Nmap fingerprint; authorized here, but is reconnaissance if unexpected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337304" y="1508760"/>
            <a:ext cx="351434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5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1896" y="16550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11" name="Text 9"/>
          <p:cNvSpPr/>
          <p:nvPr/>
        </p:nvSpPr>
        <p:spPr>
          <a:xfrm>
            <a:off x="4721352" y="1581912"/>
            <a:ext cx="2965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ports confirmed open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0184" y="196596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SYN,ACK returned for SMTP (25), NetBIOS (139), VNC (5900) in one burst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4520184" y="269748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feeds the vulnerability assessment findings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125968" y="1508760"/>
            <a:ext cx="351434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5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90560" y="16550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16" name="Text 14"/>
          <p:cNvSpPr/>
          <p:nvPr/>
        </p:nvSpPr>
        <p:spPr>
          <a:xfrm>
            <a:off x="8510016" y="1581912"/>
            <a:ext cx="2965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↔ ICMP anomaly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08848" y="196596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query followed by "Port Unreachable" instead of a normal response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8308848" y="269748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misconfiguration — not malicious, but worth correcting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48640" y="3730752"/>
            <a:ext cx="351434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5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8770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FB68C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3803904"/>
            <a:ext cx="2965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pre-resolution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520" y="4187952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MAC resolved via ARP immediately before the scan burst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731520" y="4919472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Timestamp-confirms the scan originated on-segment from Kali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337304" y="3730752"/>
            <a:ext cx="351434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5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01896" y="38770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FB68C"/>
          </a:solidFill>
          <a:ln/>
        </p:spPr>
      </p:sp>
      <p:sp>
        <p:nvSpPr>
          <p:cNvPr id="26" name="Text 24"/>
          <p:cNvSpPr/>
          <p:nvPr/>
        </p:nvSpPr>
        <p:spPr>
          <a:xfrm>
            <a:off x="4721352" y="3803904"/>
            <a:ext cx="2965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NTP egress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20184" y="4187952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UDP/123 to a second public time server mid-capture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4520184" y="4919472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Legitimate, but confirm egress filtering allows only necessary destinations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8125968" y="3730752"/>
            <a:ext cx="351434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5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90560" y="38770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31" name="Text 29"/>
          <p:cNvSpPr/>
          <p:nvPr/>
        </p:nvSpPr>
        <p:spPr>
          <a:xfrm>
            <a:off x="8510016" y="3803904"/>
            <a:ext cx="2965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concentration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308848" y="4187952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host pair (.128 ↔ .129) makes up ~92% of all packets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8308848" y="4919472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one-directional volume spike is itself worth investigating on any real network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Advanced Cybersecurity Practical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--script vuln + service fingerprinting → 7 documented findings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vsFTPd 2.3.4 backdoor (21/tcp)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06440" y="150876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CVE-2011-2523 — exploit verified, returned uid=0(root)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10104120" y="1572768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10104120" y="157276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130552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305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13055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root bindshell (1524/tcp)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213055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root command execution, no auth required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10104120" y="2194560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10104120" y="219456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752344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75234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75234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Backdoored UnrealIRCd (6667/tcp)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06440" y="275234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trojanized 3.2.8.1 distribution history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10104120" y="2816352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10104120" y="281635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374136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37413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37413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 enabled (23/tcp)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337413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Cleartext credentials, trivially sniffable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10104120" y="3438144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F4A300"/>
          </a:solidFill>
          <a:ln/>
        </p:spPr>
      </p:sp>
      <p:sp>
        <p:nvSpPr>
          <p:cNvPr id="27" name="Text 25"/>
          <p:cNvSpPr/>
          <p:nvPr/>
        </p:nvSpPr>
        <p:spPr>
          <a:xfrm>
            <a:off x="10104120" y="343814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995928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99592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399592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Samba (139/445 tcp)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06440" y="399592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branch, history of remote exploits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10104120" y="4059936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F4A300"/>
          </a:solidFill>
          <a:ln/>
        </p:spPr>
      </p:sp>
      <p:sp>
        <p:nvSpPr>
          <p:cNvPr id="33" name="Text 31"/>
          <p:cNvSpPr/>
          <p:nvPr/>
        </p:nvSpPr>
        <p:spPr>
          <a:xfrm>
            <a:off x="10104120" y="405993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617720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617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97280" y="4617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Weak-auth VNC (5900/tcp)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06440" y="46177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3.3 — brute-forceable authentication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10104120" y="4681728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10104120" y="468172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5239512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23951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97280" y="523951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exposure — 23 open ports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06440" y="523951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attack surface across one single host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10104120" y="5303520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C9A227"/>
          </a:solidFill>
          <a:ln/>
        </p:spPr>
      </p:sp>
      <p:sp>
        <p:nvSpPr>
          <p:cNvPr id="45" name="Text 43"/>
          <p:cNvSpPr/>
          <p:nvPr/>
        </p:nvSpPr>
        <p:spPr>
          <a:xfrm>
            <a:off x="10104120" y="530352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Advanced Cybersecurity Practical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Classification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classified by exploitability and business impact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0350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554480"/>
            <a:ext cx="4663440" cy="868680"/>
          </a:xfrm>
          <a:prstGeom prst="roundRect">
            <a:avLst>
              <a:gd name="adj" fmla="val 7368"/>
            </a:avLst>
          </a:prstGeom>
          <a:solidFill>
            <a:srgbClr val="13315C"/>
          </a:solidFill>
          <a:ln/>
        </p:spPr>
      </p:sp>
      <p:sp>
        <p:nvSpPr>
          <p:cNvPr id="6" name="Shape 3"/>
          <p:cNvSpPr/>
          <p:nvPr/>
        </p:nvSpPr>
        <p:spPr>
          <a:xfrm>
            <a:off x="7086600" y="1700784"/>
            <a:ext cx="164592" cy="566928"/>
          </a:xfrm>
          <a:prstGeom prst="roundRect">
            <a:avLst>
              <a:gd name="adj" fmla="val 22222"/>
            </a:avLst>
          </a:prstGeom>
          <a:solidFill>
            <a:srgbClr val="E63946"/>
          </a:solidFill>
          <a:ln/>
        </p:spPr>
      </p:sp>
      <p:sp>
        <p:nvSpPr>
          <p:cNvPr id="7" name="Text 4"/>
          <p:cNvSpPr/>
          <p:nvPr/>
        </p:nvSpPr>
        <p:spPr>
          <a:xfrm>
            <a:off x="7406640" y="16184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06640" y="1920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Unauthenticated, remote, leads to full/root compromise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6949440" y="2606040"/>
            <a:ext cx="4663440" cy="868680"/>
          </a:xfrm>
          <a:prstGeom prst="roundRect">
            <a:avLst>
              <a:gd name="adj" fmla="val 7368"/>
            </a:avLst>
          </a:prstGeom>
          <a:solidFill>
            <a:srgbClr val="13315C"/>
          </a:solidFill>
          <a:ln/>
        </p:spPr>
      </p:sp>
      <p:sp>
        <p:nvSpPr>
          <p:cNvPr id="10" name="Shape 7"/>
          <p:cNvSpPr/>
          <p:nvPr/>
        </p:nvSpPr>
        <p:spPr>
          <a:xfrm>
            <a:off x="7086600" y="2752344"/>
            <a:ext cx="164592" cy="566928"/>
          </a:xfrm>
          <a:prstGeom prst="roundRect">
            <a:avLst>
              <a:gd name="adj" fmla="val 22222"/>
            </a:avLst>
          </a:prstGeom>
          <a:solidFill>
            <a:srgbClr val="F4A300"/>
          </a:solidFill>
          <a:ln/>
        </p:spPr>
      </p:sp>
      <p:sp>
        <p:nvSpPr>
          <p:cNvPr id="11" name="Text 8"/>
          <p:cNvSpPr/>
          <p:nvPr/>
        </p:nvSpPr>
        <p:spPr>
          <a:xfrm>
            <a:off x="7406640" y="26700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406640" y="2971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Cleartext exposure or software with known remote-exploit history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6949440" y="3657600"/>
            <a:ext cx="4663440" cy="868680"/>
          </a:xfrm>
          <a:prstGeom prst="roundRect">
            <a:avLst>
              <a:gd name="adj" fmla="val 7368"/>
            </a:avLst>
          </a:prstGeom>
          <a:solidFill>
            <a:srgbClr val="13315C"/>
          </a:solidFill>
          <a:ln/>
        </p:spPr>
      </p:sp>
      <p:sp>
        <p:nvSpPr>
          <p:cNvPr id="14" name="Shape 11"/>
          <p:cNvSpPr/>
          <p:nvPr/>
        </p:nvSpPr>
        <p:spPr>
          <a:xfrm>
            <a:off x="7086600" y="3803904"/>
            <a:ext cx="164592" cy="566928"/>
          </a:xfrm>
          <a:prstGeom prst="roundRect">
            <a:avLst>
              <a:gd name="adj" fmla="val 22222"/>
            </a:avLst>
          </a:prstGeom>
          <a:solidFill>
            <a:srgbClr val="C9A227"/>
          </a:solidFill>
          <a:ln/>
        </p:spPr>
      </p:sp>
      <p:sp>
        <p:nvSpPr>
          <p:cNvPr id="15" name="Text 12"/>
          <p:cNvSpPr/>
          <p:nvPr/>
        </p:nvSpPr>
        <p:spPr>
          <a:xfrm>
            <a:off x="7406640" y="37216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406640" y="4023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controls / unnecessary exposure needing a further step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6949440" y="4709160"/>
            <a:ext cx="4663440" cy="868680"/>
          </a:xfrm>
          <a:prstGeom prst="roundRect">
            <a:avLst>
              <a:gd name="adj" fmla="val 7368"/>
            </a:avLst>
          </a:prstGeom>
          <a:solidFill>
            <a:srgbClr val="13315C"/>
          </a:solidFill>
          <a:ln/>
        </p:spPr>
      </p:sp>
      <p:sp>
        <p:nvSpPr>
          <p:cNvPr id="18" name="Shape 15"/>
          <p:cNvSpPr/>
          <p:nvPr/>
        </p:nvSpPr>
        <p:spPr>
          <a:xfrm>
            <a:off x="7086600" y="4855464"/>
            <a:ext cx="164592" cy="566928"/>
          </a:xfrm>
          <a:prstGeom prst="roundRect">
            <a:avLst>
              <a:gd name="adj" fmla="val 22222"/>
            </a:avLst>
          </a:prstGeom>
          <a:solidFill>
            <a:srgbClr val="3FB68C"/>
          </a:solidFill>
          <a:ln/>
        </p:spPr>
      </p:sp>
      <p:sp>
        <p:nvSpPr>
          <p:cNvPr id="19" name="Text 16"/>
          <p:cNvSpPr/>
          <p:nvPr/>
        </p:nvSpPr>
        <p:spPr>
          <a:xfrm>
            <a:off x="7406640" y="47731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406640" y="5074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exploitability; access already restricted</a:t>
            </a:r>
            <a:endParaRPr lang="en-US" sz="93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Advanced Cybersecurity Practical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 Performed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verified security improvements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3016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172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unnecessary SSH on Kali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154680"/>
            <a:ext cx="3172968" cy="502920"/>
          </a:xfrm>
          <a:prstGeom prst="roundRect">
            <a:avLst>
              <a:gd name="adj" fmla="val 9091"/>
            </a:avLst>
          </a:prstGeom>
          <a:solidFill>
            <a:srgbClr val="EFF3F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5468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E60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disable --now ssh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31729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an unneeded listener on the analyst's own host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352544" y="1508760"/>
            <a:ext cx="363016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5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81144" y="173736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81144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81144" y="2377440"/>
            <a:ext cx="3172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UFW + restricted SSH on target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81144" y="3154680"/>
            <a:ext cx="3172968" cy="502920"/>
          </a:xfrm>
          <a:prstGeom prst="roundRect">
            <a:avLst>
              <a:gd name="adj" fmla="val 9091"/>
            </a:avLst>
          </a:prstGeom>
          <a:solidFill>
            <a:srgbClr val="EFF3F7"/>
          </a:solidFill>
          <a:ln/>
        </p:spPr>
      </p:sp>
      <p:sp>
        <p:nvSpPr>
          <p:cNvPr id="16" name="Text 14"/>
          <p:cNvSpPr/>
          <p:nvPr/>
        </p:nvSpPr>
        <p:spPr>
          <a:xfrm>
            <a:off x="4672584" y="315468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E60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ufw allow 22/tcp from trusted host; ufw enable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4581144" y="3794760"/>
            <a:ext cx="31729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host firewall now active, replacing no protection at all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8156448" y="1508760"/>
            <a:ext cx="363016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5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85048" y="173736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8385048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85048" y="2377440"/>
            <a:ext cx="3172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Telnet at the firewall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385048" y="3154680"/>
            <a:ext cx="3172968" cy="502920"/>
          </a:xfrm>
          <a:prstGeom prst="roundRect">
            <a:avLst>
              <a:gd name="adj" fmla="val 9091"/>
            </a:avLst>
          </a:prstGeom>
          <a:solidFill>
            <a:srgbClr val="EFF3F7"/>
          </a:solidFill>
          <a:ln/>
        </p:spPr>
      </p:sp>
      <p:sp>
        <p:nvSpPr>
          <p:cNvPr id="23" name="Text 21"/>
          <p:cNvSpPr/>
          <p:nvPr/>
        </p:nvSpPr>
        <p:spPr>
          <a:xfrm>
            <a:off x="8476488" y="315468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E60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ufw deny 23/tcp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8385048" y="3794760"/>
            <a:ext cx="31729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Cleartext credential exposure over Telnet is now blocked</a:t>
            </a:r>
            <a:endParaRPr lang="en-US" sz="980" dirty="0"/>
          </a:p>
        </p:txBody>
      </p:sp>
      <p:pic>
        <p:nvPicPr>
          <p:cNvPr id="25" name="Image 0" descr="assets/13_4_Tel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892040"/>
            <a:ext cx="2743200" cy="154533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566160" y="5257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firewall status after all 3 actions — 22/tcp ALLOW, 23/tcp DENY.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Advanced Cybersecurity Practical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 After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improvement for each hardening action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3108960"/>
        </p:xfrm>
        <a:graphic>
          <a:graphicData uri="http://schemas.openxmlformats.org/drawingml/2006/table">
            <a:tbl>
              <a:tblPr/>
              <a:tblGrid>
                <a:gridCol w="3291840"/>
                <a:gridCol w="3840480"/>
                <a:gridCol w="3959352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F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running on Kali analyst 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B7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Enabled, active at boot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B6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Disabled &amp; stopped — will not restart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F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firewall on Metasploitable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B7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"Firewall not loaded"; SSH open to subnet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B6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"Firewall loaded"; explicit SSH allow 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4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FE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Telnet reachable (23/tcp)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B7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— confirmed via Nmap + Wireshark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B6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23:tcp DENY — blocked at the firewall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006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3315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892040"/>
            <a:ext cx="10698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reduced. The two riskiest firewallable exposures (SSH, Telnet) are now under positive access control, and an unnecessary listener on the analyst host was removed. The 3 Critical, service-level backdoors (vsFTPd, bindshell, UnrealIRCd) remain and require software-level remediation — the clear top priority for the next pass.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Advanced Cybersecurity Practical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1430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 all 3 Critical findings immediately — upgrade/remove vsftpd, terminate the bindshell, replace UnrealIRCd.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55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0992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default-deny firewall posture on every host, with rules scoped to the real management workstation.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548640" y="2322576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225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27685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cleartext / weak-auth protocols (Telnet, rexec, rlogin, rsh, VNC 3.3) in favour of SSH / TLS equivalents.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548640" y="2889504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89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84378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outdated services — Samba, BIND, Apache/Tomcat, ProFTPD — to currently supported releases.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564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41071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overall exposure and re-verify with a follow-up Nmap scan after each remediation step.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1064240" cy="0"/>
          </a:xfrm>
          <a:prstGeom prst="line">
            <a:avLst/>
          </a:prstGeom>
          <a:noFill/>
          <a:ln w="12700">
            <a:solidFill>
              <a:srgbClr val="2743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assessment walked the full analyst workflow — discovery, capture, correlation, risk-classified findings, and verified hardening — inside an authorized lab. Three Critical, unauthenticated remote-compromise paths were confirmed on the target, and three real hardening actions measurably reduced exposure. The service-level backdoors remain the clear next priority.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Advanced Cybersecurity Practical  |  Submission Deadline: 24 August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2026-08-21T06:49:14Z</dcterms:created>
  <dcterms:modified xsi:type="dcterms:W3CDTF">2026-08-21T06:49:14Z</dcterms:modified>
</cp:coreProperties>
</file>